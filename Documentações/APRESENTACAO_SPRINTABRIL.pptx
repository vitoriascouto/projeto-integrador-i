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Bold" panose="020B0604020202020204" charset="0"/>
      <p:regular r:id="rId19"/>
    </p:embeddedFont>
    <p:embeddedFont>
      <p:font typeface="Times New Roman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hyperlink" Target="https://canva.link/vfe1osfyiru9iwh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hyperlink" Target="https://canva.link/vfe1osfyiru9iwh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jpeg"/><Relationship Id="rId7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14.jpeg"/><Relationship Id="rId10" Type="http://schemas.openxmlformats.org/officeDocument/2006/relationships/hyperlink" Target="https://canva.link/vfe1osfyiru9iwh" TargetMode="External"/><Relationship Id="rId4" Type="http://schemas.openxmlformats.org/officeDocument/2006/relationships/image" Target="../media/image1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jpeg"/><Relationship Id="rId7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17.jpeg"/><Relationship Id="rId10" Type="http://schemas.openxmlformats.org/officeDocument/2006/relationships/hyperlink" Target="https://canva.link/vfe1osfyiru9iwh" TargetMode="External"/><Relationship Id="rId4" Type="http://schemas.openxmlformats.org/officeDocument/2006/relationships/image" Target="../media/image16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jpe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20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19.jpeg"/><Relationship Id="rId9" Type="http://schemas.openxmlformats.org/officeDocument/2006/relationships/hyperlink" Target="https://canva.link/vfe1osfyiru9iwh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anva.link/vfe1osfyiru9iwh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1.sv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hyperlink" Target="https://canva.link/vfe1osfyiru9iwh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anva.link/vfe1osfyiru9iwh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1.sv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hyperlink" Target="https://canva.link/vfe1osfyiru9iwh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s://canva.link/vfe1osfyiru9iwh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24.png"/><Relationship Id="rId4" Type="http://schemas.openxmlformats.org/officeDocument/2006/relationships/image" Target="../media/image3.svg"/><Relationship Id="rId9" Type="http://schemas.openxmlformats.org/officeDocument/2006/relationships/image" Target="../media/image23.png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12" Type="http://schemas.openxmlformats.org/officeDocument/2006/relationships/hyperlink" Target="https://canva.link/vfe1osfyiru9iwh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8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3.sv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hyperlink" Target="https://canva.link/vfe1osfyiru9iwh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anva.link/vfe1osfyiru9iwh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.svg"/><Relationship Id="rId5" Type="http://schemas.openxmlformats.org/officeDocument/2006/relationships/image" Target="../media/image29.jpeg"/><Relationship Id="rId10" Type="http://schemas.openxmlformats.org/officeDocument/2006/relationships/image" Target="../media/image5.png"/><Relationship Id="rId4" Type="http://schemas.openxmlformats.org/officeDocument/2006/relationships/image" Target="../media/image3.sv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30.jpeg"/><Relationship Id="rId10" Type="http://schemas.openxmlformats.org/officeDocument/2006/relationships/hyperlink" Target="https://canva.link/vfe1osfyiru9iwh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canva.link/vfe1osfyiru9iwh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1.sv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hyperlink" Target="https://canva.link/vfe1osfyiru9iwh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hyperlink" Target="https://canva.link/vfe1osfyiru9iwh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6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36147" y="-38"/>
            <a:ext cx="4549292" cy="5143538"/>
          </a:xfrm>
          <a:custGeom>
            <a:avLst/>
            <a:gdLst/>
            <a:ahLst/>
            <a:cxnLst/>
            <a:rect l="l" t="t" r="r" b="b"/>
            <a:pathLst>
              <a:path w="4549292" h="5143538">
                <a:moveTo>
                  <a:pt x="0" y="0"/>
                </a:moveTo>
                <a:lnTo>
                  <a:pt x="4549292" y="0"/>
                </a:lnTo>
                <a:lnTo>
                  <a:pt x="4549292" y="5143538"/>
                </a:lnTo>
                <a:lnTo>
                  <a:pt x="0" y="514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531" r="-653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439545" y="2164642"/>
            <a:ext cx="9587179" cy="7638326"/>
            <a:chOff x="0" y="0"/>
            <a:chExt cx="12782906" cy="101844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82931" cy="10184384"/>
            </a:xfrm>
            <a:custGeom>
              <a:avLst/>
              <a:gdLst/>
              <a:ahLst/>
              <a:cxnLst/>
              <a:rect l="l" t="t" r="r" b="b"/>
              <a:pathLst>
                <a:path w="12782931" h="10184384">
                  <a:moveTo>
                    <a:pt x="0" y="0"/>
                  </a:moveTo>
                  <a:lnTo>
                    <a:pt x="12782931" y="0"/>
                  </a:lnTo>
                  <a:lnTo>
                    <a:pt x="12782931" y="10184384"/>
                  </a:lnTo>
                  <a:lnTo>
                    <a:pt x="0" y="10184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57" b="-12757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5002285" y="131969"/>
            <a:ext cx="3895315" cy="1195578"/>
          </a:xfrm>
          <a:custGeom>
            <a:avLst/>
            <a:gdLst/>
            <a:ahLst/>
            <a:cxnLst/>
            <a:rect l="l" t="t" r="r" b="b"/>
            <a:pathLst>
              <a:path w="3895315" h="1195578">
                <a:moveTo>
                  <a:pt x="0" y="0"/>
                </a:moveTo>
                <a:lnTo>
                  <a:pt x="3895315" y="0"/>
                </a:lnTo>
                <a:lnTo>
                  <a:pt x="3895315" y="1195578"/>
                </a:lnTo>
                <a:lnTo>
                  <a:pt x="0" y="1195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7626" b="-3762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16316" y="2760250"/>
            <a:ext cx="12033618" cy="133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6"/>
              </a:lnSpc>
            </a:pPr>
            <a:r>
              <a:rPr lang="en-US" sz="4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Projeto Integrador</a:t>
            </a:r>
          </a:p>
          <a:p>
            <a:pPr algn="r">
              <a:lnSpc>
                <a:spcPts val="5166"/>
              </a:lnSpc>
            </a:pPr>
            <a:r>
              <a:rPr lang="en-US" sz="4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Orientador: Professor Gildarcio Sousa Gonçalves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9935" y="353849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 de 17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811" b="-381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571" r="-1" b="-356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6" name="Freeform 16">
              <a:hlinkClick r:id="rId10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32" b="-36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771856" y="576765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9" y="0"/>
                </a:lnTo>
                <a:lnTo>
                  <a:pt x="5990949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19095" y="600075"/>
            <a:ext cx="3129905" cy="113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8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SUMÁRIO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27792" y="1935442"/>
            <a:ext cx="8415861" cy="723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Apresentação</a:t>
            </a:r>
            <a:r>
              <a:rPr lang="en-US" sz="4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time                                     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                                          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Principais objetivos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Tecnologias utilizadas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BackLog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BackLog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</a:t>
            </a:r>
          </a:p>
          <a:p>
            <a:pPr marL="1092200" lvl="3" indent="-273050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Vídeo da execução</a:t>
            </a:r>
          </a:p>
          <a:p>
            <a:pPr marL="1092200" lvl="3" indent="-273050" algn="l">
              <a:lnSpc>
                <a:spcPts val="5600"/>
              </a:lnSpc>
            </a:pPr>
            <a:endParaRPr lang="en-US"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811" b="-381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571" r="-1" b="-356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4" name="Freeform 14">
              <a:hlinkClick r:id="rId9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632" b="-3635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2378557" y="2057362"/>
            <a:ext cx="569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3334" y="7850438"/>
            <a:ext cx="569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78557" y="2158584"/>
            <a:ext cx="569557" cy="187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endParaRPr/>
          </a:p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  <a:p>
            <a:pPr algn="l">
              <a:lnSpc>
                <a:spcPts val="4800"/>
              </a:lnSpc>
            </a:pPr>
            <a:endParaRPr lang="en-US"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399588" y="3533318"/>
            <a:ext cx="569557" cy="126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  <a:p>
            <a:pPr algn="l">
              <a:lnSpc>
                <a:spcPts val="4800"/>
              </a:lnSpc>
            </a:pPr>
            <a:endParaRPr lang="en-US"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30214" y="4198801"/>
            <a:ext cx="569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30214" y="4914205"/>
            <a:ext cx="569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30214" y="5622084"/>
            <a:ext cx="569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30214" y="6371615"/>
            <a:ext cx="569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93334" y="7121157"/>
            <a:ext cx="569557" cy="126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</a:p>
          <a:p>
            <a:pPr algn="l">
              <a:lnSpc>
                <a:spcPts val="4800"/>
              </a:lnSpc>
            </a:pPr>
            <a:endParaRPr lang="en-US"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339423" y="2057362"/>
            <a:ext cx="4147109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66809" y="2758402"/>
            <a:ext cx="600783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...............................................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63881" y="3537252"/>
            <a:ext cx="4522651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5818" y="4221166"/>
            <a:ext cx="4147109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16320" y="4956962"/>
            <a:ext cx="4689291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....................................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12778" y="5685111"/>
            <a:ext cx="4834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......................................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28220" y="6371615"/>
            <a:ext cx="6177391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................................................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59938" y="7071331"/>
            <a:ext cx="5650516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............................................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0198" y="7807128"/>
            <a:ext cx="4834557" cy="64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..................................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2 de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57124" y="6242761"/>
            <a:ext cx="3485007" cy="3485102"/>
            <a:chOff x="0" y="0"/>
            <a:chExt cx="4646676" cy="46468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3"/>
              <a:stretch>
                <a:fillRect t="-16700" b="-1670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7934" y="2292125"/>
            <a:ext cx="3485007" cy="3485102"/>
            <a:chOff x="0" y="0"/>
            <a:chExt cx="4646676" cy="46468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4"/>
              <a:stretch>
                <a:fillRect t="-16664" b="-1666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908857" y="3912965"/>
            <a:ext cx="3485007" cy="3485102"/>
            <a:chOff x="0" y="0"/>
            <a:chExt cx="4646676" cy="46468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5"/>
              <a:stretch>
                <a:fillRect t="-16664" b="-1666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122659" y="323850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Apresentação do time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14769" y="7342403"/>
            <a:ext cx="4877391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Camilly - Scrum Master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5432" y="7945307"/>
            <a:ext cx="3855768" cy="44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Documentação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5341" y="4716104"/>
            <a:ext cx="4575696" cy="106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Maria Clara - Desenvolvedora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5341" y="5816422"/>
            <a:ext cx="4632427" cy="45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Documentação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39878" y="3377660"/>
            <a:ext cx="4877391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Marcos - Product Owner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86138" y="3887400"/>
            <a:ext cx="5231130" cy="907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BackEnd e documentação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3 de 17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103289" y="8846953"/>
            <a:ext cx="2065201" cy="1091022"/>
            <a:chOff x="0" y="0"/>
            <a:chExt cx="2753601" cy="14546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811" b="-3814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2814421" y="8358321"/>
            <a:ext cx="3546005" cy="1579578"/>
            <a:chOff x="0" y="0"/>
            <a:chExt cx="4728007" cy="21061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571" r="-1" b="-3568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1490112" y="8733206"/>
            <a:ext cx="1666580" cy="1133027"/>
            <a:chOff x="0" y="0"/>
            <a:chExt cx="2222106" cy="1510703"/>
          </a:xfrm>
        </p:grpSpPr>
        <p:sp>
          <p:nvSpPr>
            <p:cNvPr id="24" name="Freeform 24">
              <a:hlinkClick r:id="rId10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32" b="-36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00798" y="6257515"/>
            <a:ext cx="3485007" cy="3485102"/>
            <a:chOff x="0" y="0"/>
            <a:chExt cx="4646676" cy="46468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3"/>
              <a:stretch>
                <a:fillRect t="-15738" b="-1573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469441" y="4093721"/>
            <a:ext cx="3485007" cy="3485102"/>
            <a:chOff x="0" y="0"/>
            <a:chExt cx="4646676" cy="46468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4"/>
              <a:stretch>
                <a:fillRect t="-16664" b="-1666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37586" y="2227993"/>
            <a:ext cx="3485007" cy="3485102"/>
            <a:chOff x="0" y="0"/>
            <a:chExt cx="4646676" cy="46468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5"/>
              <a:stretch>
                <a:fillRect t="-16664" b="-1666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334000" y="3339227"/>
            <a:ext cx="4798562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Lara - Desenvolvedora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06161" y="3891810"/>
            <a:ext cx="3112399" cy="44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BackEnd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22659" y="323850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Apresentação do 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4 de 17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103289" y="8846953"/>
            <a:ext cx="2065201" cy="1091022"/>
            <a:chOff x="0" y="0"/>
            <a:chExt cx="2753601" cy="14546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811" b="-381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2814421" y="8358321"/>
            <a:ext cx="3546005" cy="1579578"/>
            <a:chOff x="0" y="0"/>
            <a:chExt cx="4728007" cy="21061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571" r="-1" b="-3568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1490112" y="8733206"/>
            <a:ext cx="1666580" cy="1133027"/>
            <a:chOff x="0" y="0"/>
            <a:chExt cx="2222106" cy="1510703"/>
          </a:xfrm>
        </p:grpSpPr>
        <p:sp>
          <p:nvSpPr>
            <p:cNvPr id="20" name="Freeform 20">
              <a:hlinkClick r:id="rId10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32" b="-3635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3021599" y="5177790"/>
            <a:ext cx="5146891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Lucas - Desenvolvedor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22222" y="7306408"/>
            <a:ext cx="5547589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Vitória - Desenvolvedora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33558" y="5703570"/>
            <a:ext cx="3112399" cy="44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BackEnd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90998" y="7863688"/>
            <a:ext cx="3112399" cy="44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BackEnd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7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37586" y="6187897"/>
            <a:ext cx="3485007" cy="3485102"/>
            <a:chOff x="0" y="0"/>
            <a:chExt cx="4646676" cy="46468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3"/>
              <a:stretch>
                <a:fillRect t="-16664" b="-1666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91323" y="2316309"/>
            <a:ext cx="3485007" cy="3485102"/>
            <a:chOff x="0" y="0"/>
            <a:chExt cx="4646676" cy="46468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46676" cy="4646803"/>
            </a:xfrm>
            <a:custGeom>
              <a:avLst/>
              <a:gdLst/>
              <a:ahLst/>
              <a:cxnLst/>
              <a:rect l="l" t="t" r="r" b="b"/>
              <a:pathLst>
                <a:path w="4646676" h="4646803">
                  <a:moveTo>
                    <a:pt x="2323338" y="0"/>
                  </a:moveTo>
                  <a:cubicBezTo>
                    <a:pt x="1040257" y="0"/>
                    <a:pt x="0" y="1040257"/>
                    <a:pt x="0" y="2323338"/>
                  </a:cubicBezTo>
                  <a:cubicBezTo>
                    <a:pt x="0" y="3606419"/>
                    <a:pt x="1040257" y="4646803"/>
                    <a:pt x="2323338" y="4646803"/>
                  </a:cubicBezTo>
                  <a:cubicBezTo>
                    <a:pt x="3606419" y="4646803"/>
                    <a:pt x="4646676" y="3606546"/>
                    <a:pt x="4646676" y="2323465"/>
                  </a:cubicBezTo>
                  <a:cubicBezTo>
                    <a:pt x="4646676" y="1040384"/>
                    <a:pt x="3606546" y="0"/>
                    <a:pt x="2323338" y="0"/>
                  </a:cubicBezTo>
                  <a:close/>
                </a:path>
              </a:pathLst>
            </a:custGeom>
            <a:blipFill>
              <a:blip r:embed="rId4"/>
              <a:stretch>
                <a:fillRect l="-12724" r="-1272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749032" y="3813229"/>
            <a:ext cx="4831813" cy="45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FrontEnd</a:t>
            </a:r>
          </a:p>
        </p:txBody>
      </p:sp>
      <p:sp>
        <p:nvSpPr>
          <p:cNvPr id="9" name="Freeform 9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5 de 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22659" y="323850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Apresentação do time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103289" y="8846953"/>
            <a:ext cx="2065201" cy="1091022"/>
            <a:chOff x="0" y="0"/>
            <a:chExt cx="2753601" cy="14546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811" b="-381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814421" y="8358321"/>
            <a:ext cx="3546005" cy="1579578"/>
            <a:chOff x="0" y="0"/>
            <a:chExt cx="4728007" cy="21061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571" r="-1" b="-3568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490112" y="8733206"/>
            <a:ext cx="1666580" cy="1133027"/>
            <a:chOff x="0" y="0"/>
            <a:chExt cx="2222106" cy="1510703"/>
          </a:xfrm>
        </p:grpSpPr>
        <p:sp>
          <p:nvSpPr>
            <p:cNvPr id="17" name="Freeform 17">
              <a:hlinkClick r:id="rId9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632" b="-363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357846" y="4176189"/>
            <a:ext cx="3710416" cy="3454594"/>
            <a:chOff x="0" y="0"/>
            <a:chExt cx="4947222" cy="46061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47285" cy="4606163"/>
            </a:xfrm>
            <a:custGeom>
              <a:avLst/>
              <a:gdLst/>
              <a:ahLst/>
              <a:cxnLst/>
              <a:rect l="l" t="t" r="r" b="b"/>
              <a:pathLst>
                <a:path w="4947285" h="4606163">
                  <a:moveTo>
                    <a:pt x="0" y="0"/>
                  </a:moveTo>
                  <a:lnTo>
                    <a:pt x="4947285" y="0"/>
                  </a:lnTo>
                  <a:lnTo>
                    <a:pt x="4947285" y="4606163"/>
                  </a:lnTo>
                  <a:lnTo>
                    <a:pt x="0" y="4606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60" r="-1758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5216347" y="3300955"/>
            <a:ext cx="4798562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Miguel - Desenvolvedor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45951" y="5039544"/>
            <a:ext cx="5234330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Melina - Desenvolvedora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98304" y="7810262"/>
            <a:ext cx="4831813" cy="45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FrontEnd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60147" y="5511622"/>
            <a:ext cx="4831813" cy="45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Equipe : FrontEnd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87100" y="7395134"/>
            <a:ext cx="5234330" cy="53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Lais - Desenvolvedora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267282" y="78158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09800" y="3873532"/>
            <a:ext cx="15045976" cy="272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3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Dificuldade no atendimento rápido em situações de emergência, agravada pela falta de comunicação eficiente e integração entre os serviços, além do acesso limitado a informações em momentos críticos.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617016" y="6895290"/>
            <a:ext cx="4957286" cy="3887057"/>
            <a:chOff x="0" y="0"/>
            <a:chExt cx="6609715" cy="5182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9715" cy="5182743"/>
            </a:xfrm>
            <a:custGeom>
              <a:avLst/>
              <a:gdLst/>
              <a:ahLst/>
              <a:cxnLst/>
              <a:rect l="l" t="t" r="r" b="b"/>
              <a:pathLst>
                <a:path w="6609715" h="5182743">
                  <a:moveTo>
                    <a:pt x="0" y="0"/>
                  </a:moveTo>
                  <a:lnTo>
                    <a:pt x="6609715" y="0"/>
                  </a:lnTo>
                  <a:lnTo>
                    <a:pt x="6609715" y="5182743"/>
                  </a:lnTo>
                  <a:lnTo>
                    <a:pt x="0" y="51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66" b="-1376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4826939" y="-150103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6 de 17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811" b="-381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571" r="-1" b="-356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5" name="Freeform 15">
              <a:hlinkClick r:id="rId8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632" b="-363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4782402" y="328336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97638" y="2132514"/>
            <a:ext cx="8723195" cy="155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Problema</a:t>
            </a:r>
          </a:p>
        </p:txBody>
      </p:sp>
      <p:sp>
        <p:nvSpPr>
          <p:cNvPr id="18" name="AutoShape 18"/>
          <p:cNvSpPr/>
          <p:nvPr/>
        </p:nvSpPr>
        <p:spPr>
          <a:xfrm rot="5361300">
            <a:off x="689201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176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267282" y="78158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46628" y="4035571"/>
            <a:ext cx="15045976" cy="138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3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Melhorar o acesso a informações e agilizar o contato entre a população e os órgãos de atendimento em situações de desastre.</a:t>
            </a:r>
          </a:p>
        </p:txBody>
      </p:sp>
      <p:sp>
        <p:nvSpPr>
          <p:cNvPr id="6" name="Freeform 6"/>
          <p:cNvSpPr/>
          <p:nvPr/>
        </p:nvSpPr>
        <p:spPr>
          <a:xfrm>
            <a:off x="14826939" y="-150103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97638" y="328336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sp>
        <p:nvSpPr>
          <p:cNvPr id="8" name="AutoShape 8"/>
          <p:cNvSpPr/>
          <p:nvPr/>
        </p:nvSpPr>
        <p:spPr>
          <a:xfrm rot="5361300">
            <a:off x="689201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11" b="-381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571" r="-1" b="-356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4" name="Freeform 14">
              <a:hlinkClick r:id="rId7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32" b="-363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17016" y="6895290"/>
            <a:ext cx="4957286" cy="3887057"/>
            <a:chOff x="0" y="0"/>
            <a:chExt cx="6609715" cy="5182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9715" cy="5182743"/>
            </a:xfrm>
            <a:custGeom>
              <a:avLst/>
              <a:gdLst/>
              <a:ahLst/>
              <a:cxnLst/>
              <a:rect l="l" t="t" r="r" b="b"/>
              <a:pathLst>
                <a:path w="6609715" h="5182743">
                  <a:moveTo>
                    <a:pt x="0" y="0"/>
                  </a:moveTo>
                  <a:lnTo>
                    <a:pt x="6609715" y="0"/>
                  </a:lnTo>
                  <a:lnTo>
                    <a:pt x="6609715" y="5182743"/>
                  </a:lnTo>
                  <a:lnTo>
                    <a:pt x="0" y="51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3766" b="-1376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7 de 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97638" y="2132514"/>
            <a:ext cx="8723195" cy="155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Objetivo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267282" y="78158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47518" y="4023465"/>
            <a:ext cx="13434208" cy="132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3"/>
              </a:lnSpc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da tecnologia para centralizar informações, enviar alertas e facilitar a comunicação durante emergências.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625951" y="6819624"/>
            <a:ext cx="4957286" cy="3887057"/>
            <a:chOff x="0" y="0"/>
            <a:chExt cx="6609715" cy="5182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9715" cy="5182743"/>
            </a:xfrm>
            <a:custGeom>
              <a:avLst/>
              <a:gdLst/>
              <a:ahLst/>
              <a:cxnLst/>
              <a:rect l="l" t="t" r="r" b="b"/>
              <a:pathLst>
                <a:path w="6609715" h="5182743">
                  <a:moveTo>
                    <a:pt x="0" y="0"/>
                  </a:moveTo>
                  <a:lnTo>
                    <a:pt x="6609715" y="0"/>
                  </a:lnTo>
                  <a:lnTo>
                    <a:pt x="6609715" y="5182743"/>
                  </a:lnTo>
                  <a:lnTo>
                    <a:pt x="0" y="51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66" b="-1376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4826939" y="-150103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82402" y="323572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sp>
        <p:nvSpPr>
          <p:cNvPr id="10" name="AutoShape 10"/>
          <p:cNvSpPr/>
          <p:nvPr/>
        </p:nvSpPr>
        <p:spPr>
          <a:xfrm rot="5361300">
            <a:off x="689201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4509217" y="1842715"/>
            <a:ext cx="8723195" cy="155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Solução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8 de 17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811" b="-381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571" r="-1" b="-356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8" name="Freeform 18">
              <a:hlinkClick r:id="rId8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632" b="-36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7198" y="3035265"/>
            <a:ext cx="16033604" cy="294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3880" lvl="2" indent="-307960" algn="l">
              <a:lnSpc>
                <a:spcPts val="5658"/>
              </a:lnSpc>
              <a:buFont typeface="Arial"/>
              <a:buChar char="⚬"/>
            </a:pPr>
            <a:r>
              <a:rPr lang="en-US" sz="40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Solicitação rápida de ajuda em emergencias;</a:t>
            </a:r>
          </a:p>
          <a:p>
            <a:pPr marL="923880" lvl="2" indent="-307960" algn="l">
              <a:lnSpc>
                <a:spcPts val="5658"/>
              </a:lnSpc>
              <a:buFont typeface="Arial"/>
              <a:buChar char="⚬"/>
            </a:pPr>
            <a:r>
              <a:rPr lang="en-US" sz="40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Conexão com serviços de apoio e resgate;</a:t>
            </a:r>
          </a:p>
          <a:p>
            <a:pPr marL="923880" lvl="2" indent="-307960" algn="l">
              <a:lnSpc>
                <a:spcPts val="5658"/>
              </a:lnSpc>
              <a:buFont typeface="Arial"/>
              <a:buChar char="⚬"/>
            </a:pPr>
            <a:r>
              <a:rPr lang="en-US" sz="40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Monitoramento de ocorrencias em tempo real;</a:t>
            </a:r>
          </a:p>
          <a:p>
            <a:pPr marL="924001" lvl="2" indent="-308000" algn="l">
              <a:lnSpc>
                <a:spcPts val="5659"/>
              </a:lnSpc>
              <a:buFont typeface="Arial"/>
              <a:buChar char="⚬"/>
            </a:pPr>
            <a:r>
              <a:rPr lang="en-US" sz="40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Mais agilidade e segurança para a comunidade.</a:t>
            </a:r>
          </a:p>
        </p:txBody>
      </p:sp>
      <p:sp>
        <p:nvSpPr>
          <p:cNvPr id="7" name="Freeform 7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811" b="-381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571" r="-1" b="-356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3" name="Freeform 13">
              <a:hlinkClick r:id="rId9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632" b="-363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4782402" y="328336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Principais Objetivos</a:t>
            </a:r>
          </a:p>
        </p:txBody>
      </p:sp>
      <p:sp>
        <p:nvSpPr>
          <p:cNvPr id="15" name="AutoShape 15"/>
          <p:cNvSpPr/>
          <p:nvPr/>
        </p:nvSpPr>
        <p:spPr>
          <a:xfrm rot="5361300">
            <a:off x="552041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9 de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861112" y="3316462"/>
            <a:ext cx="3506476" cy="2831382"/>
            <a:chOff x="0" y="0"/>
            <a:chExt cx="4675302" cy="37751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75251" cy="3775202"/>
            </a:xfrm>
            <a:custGeom>
              <a:avLst/>
              <a:gdLst/>
              <a:ahLst/>
              <a:cxnLst/>
              <a:rect l="l" t="t" r="r" b="b"/>
              <a:pathLst>
                <a:path w="4675251" h="3775202">
                  <a:moveTo>
                    <a:pt x="0" y="0"/>
                  </a:moveTo>
                  <a:lnTo>
                    <a:pt x="4675251" y="0"/>
                  </a:lnTo>
                  <a:lnTo>
                    <a:pt x="4675251" y="3775202"/>
                  </a:lnTo>
                  <a:lnTo>
                    <a:pt x="0" y="3775202"/>
                  </a:lnTo>
                  <a:close/>
                </a:path>
              </a:pathLst>
            </a:custGeom>
            <a:blipFill>
              <a:blip r:embed="rId7"/>
              <a:stretch>
                <a:fillRect t="-3906" r="-1" b="-390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4545987" y="3304880"/>
            <a:ext cx="3517706" cy="2842965"/>
            <a:chOff x="0" y="0"/>
            <a:chExt cx="4690275" cy="37906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90237" cy="3790569"/>
            </a:xfrm>
            <a:custGeom>
              <a:avLst/>
              <a:gdLst/>
              <a:ahLst/>
              <a:cxnLst/>
              <a:rect l="l" t="t" r="r" b="b"/>
              <a:pathLst>
                <a:path w="4690237" h="3790569">
                  <a:moveTo>
                    <a:pt x="0" y="0"/>
                  </a:moveTo>
                  <a:lnTo>
                    <a:pt x="4690237" y="0"/>
                  </a:lnTo>
                  <a:lnTo>
                    <a:pt x="4690237" y="3790569"/>
                  </a:lnTo>
                  <a:lnTo>
                    <a:pt x="0" y="3790569"/>
                  </a:lnTo>
                  <a:close/>
                </a:path>
              </a:pathLst>
            </a:custGeom>
            <a:blipFill>
              <a:blip r:embed="rId8"/>
              <a:stretch>
                <a:fillRect t="-4796" b="-479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024880" y="3203134"/>
            <a:ext cx="2953083" cy="2953083"/>
            <a:chOff x="0" y="0"/>
            <a:chExt cx="3937445" cy="39374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37381" cy="3937381"/>
            </a:xfrm>
            <a:custGeom>
              <a:avLst/>
              <a:gdLst/>
              <a:ahLst/>
              <a:cxnLst/>
              <a:rect l="l" t="t" r="r" b="b"/>
              <a:pathLst>
                <a:path w="3937381" h="3937381">
                  <a:moveTo>
                    <a:pt x="0" y="0"/>
                  </a:moveTo>
                  <a:lnTo>
                    <a:pt x="3937381" y="0"/>
                  </a:lnTo>
                  <a:lnTo>
                    <a:pt x="3937381" y="3937381"/>
                  </a:lnTo>
                  <a:lnTo>
                    <a:pt x="0" y="3937381"/>
                  </a:lnTo>
                  <a:close/>
                </a:path>
              </a:pathLst>
            </a:custGeom>
            <a:blipFill>
              <a:blip r:embed="rId9"/>
              <a:stretch>
                <a:fillRect l="-2731" r="-2733" b="-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24055" y="3135754"/>
            <a:ext cx="3012091" cy="3012091"/>
            <a:chOff x="0" y="0"/>
            <a:chExt cx="4016121" cy="40161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16121" cy="4016121"/>
            </a:xfrm>
            <a:custGeom>
              <a:avLst/>
              <a:gdLst/>
              <a:ahLst/>
              <a:cxnLst/>
              <a:rect l="l" t="t" r="r" b="b"/>
              <a:pathLst>
                <a:path w="4016121" h="4016121">
                  <a:moveTo>
                    <a:pt x="0" y="0"/>
                  </a:moveTo>
                  <a:lnTo>
                    <a:pt x="4016121" y="0"/>
                  </a:lnTo>
                  <a:lnTo>
                    <a:pt x="4016121" y="4016121"/>
                  </a:lnTo>
                  <a:lnTo>
                    <a:pt x="0" y="4016121"/>
                  </a:lnTo>
                  <a:close/>
                </a:path>
              </a:pathLst>
            </a:custGeom>
            <a:blipFill>
              <a:blip r:embed="rId10"/>
              <a:stretch>
                <a:fillRect l="-1041" r="-104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561128" y="6278118"/>
            <a:ext cx="1437789" cy="44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Fastify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6580" y="6278118"/>
            <a:ext cx="1227620" cy="44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41853" y="6278118"/>
            <a:ext cx="1228154" cy="44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41806" y="6278118"/>
            <a:ext cx="1474394" cy="44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Prisma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811" b="-3814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571" r="-1" b="-3568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24" name="Freeform 24">
              <a:hlinkClick r:id="rId13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3632" b="-3635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10 de 17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68999" y="323572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Tecnologias Utilizadas</a:t>
            </a:r>
          </a:p>
        </p:txBody>
      </p:sp>
      <p:sp>
        <p:nvSpPr>
          <p:cNvPr id="27" name="AutoShape 27"/>
          <p:cNvSpPr/>
          <p:nvPr/>
        </p:nvSpPr>
        <p:spPr>
          <a:xfrm rot="5361300">
            <a:off x="526053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4782398" y="908123"/>
            <a:ext cx="8723195" cy="155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4157996"/>
            <a:ext cx="4866951" cy="1636071"/>
            <a:chOff x="0" y="0"/>
            <a:chExt cx="6489268" cy="21814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89319" cy="2181479"/>
            </a:xfrm>
            <a:custGeom>
              <a:avLst/>
              <a:gdLst/>
              <a:ahLst/>
              <a:cxnLst/>
              <a:rect l="l" t="t" r="r" b="b"/>
              <a:pathLst>
                <a:path w="6489319" h="2181479">
                  <a:moveTo>
                    <a:pt x="0" y="0"/>
                  </a:moveTo>
                  <a:lnTo>
                    <a:pt x="6489319" y="0"/>
                  </a:lnTo>
                  <a:lnTo>
                    <a:pt x="6489319" y="2181479"/>
                  </a:lnTo>
                  <a:lnTo>
                    <a:pt x="0" y="2181479"/>
                  </a:lnTo>
                  <a:close/>
                </a:path>
              </a:pathLst>
            </a:custGeom>
            <a:blipFill>
              <a:blip r:embed="rId7"/>
              <a:stretch>
                <a:fillRect t="-1056" b="-105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632044" y="3452212"/>
            <a:ext cx="4866951" cy="2578141"/>
            <a:chOff x="0" y="0"/>
            <a:chExt cx="6489268" cy="34375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89319" cy="3437509"/>
            </a:xfrm>
            <a:custGeom>
              <a:avLst/>
              <a:gdLst/>
              <a:ahLst/>
              <a:cxnLst/>
              <a:rect l="l" t="t" r="r" b="b"/>
              <a:pathLst>
                <a:path w="6489319" h="3437509">
                  <a:moveTo>
                    <a:pt x="0" y="0"/>
                  </a:moveTo>
                  <a:lnTo>
                    <a:pt x="6489319" y="0"/>
                  </a:lnTo>
                  <a:lnTo>
                    <a:pt x="6489319" y="3437509"/>
                  </a:lnTo>
                  <a:lnTo>
                    <a:pt x="0" y="3437509"/>
                  </a:lnTo>
                  <a:close/>
                </a:path>
              </a:pathLst>
            </a:custGeom>
            <a:blipFill>
              <a:blip r:embed="rId8"/>
              <a:stretch>
                <a:fillRect t="-2172" b="-217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312981" y="3369916"/>
            <a:ext cx="2651674" cy="2651674"/>
            <a:chOff x="0" y="0"/>
            <a:chExt cx="3535566" cy="35355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35553" cy="3535553"/>
            </a:xfrm>
            <a:custGeom>
              <a:avLst/>
              <a:gdLst/>
              <a:ahLst/>
              <a:cxnLst/>
              <a:rect l="l" t="t" r="r" b="b"/>
              <a:pathLst>
                <a:path w="3535553" h="3535553">
                  <a:moveTo>
                    <a:pt x="0" y="0"/>
                  </a:moveTo>
                  <a:lnTo>
                    <a:pt x="3535553" y="0"/>
                  </a:lnTo>
                  <a:lnTo>
                    <a:pt x="3535553" y="3535553"/>
                  </a:lnTo>
                  <a:lnTo>
                    <a:pt x="0" y="3535553"/>
                  </a:lnTo>
                  <a:close/>
                </a:path>
              </a:pathLst>
            </a:custGeom>
            <a:blipFill>
              <a:blip r:embed="rId9"/>
              <a:stretch>
                <a:fillRect l="-8119" r="-8120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7950641" y="6135005"/>
            <a:ext cx="1566396" cy="47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8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8202" y="5855503"/>
            <a:ext cx="1216933" cy="4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12943" y="6160256"/>
            <a:ext cx="4866951" cy="78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HTML, CSS e Java Script</a:t>
            </a:r>
          </a:p>
          <a:p>
            <a:pPr algn="ctr">
              <a:lnSpc>
                <a:spcPts val="1635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868999" y="323572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Tecnologias Utilizadas</a:t>
            </a:r>
          </a:p>
        </p:txBody>
      </p:sp>
      <p:sp>
        <p:nvSpPr>
          <p:cNvPr id="17" name="AutoShape 17"/>
          <p:cNvSpPr/>
          <p:nvPr/>
        </p:nvSpPr>
        <p:spPr>
          <a:xfrm rot="5361300">
            <a:off x="526053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4782398" y="908123"/>
            <a:ext cx="8723195" cy="155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11 de 17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811" b="-3814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571" r="-1" b="-3568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25" name="Freeform 25">
              <a:hlinkClick r:id="rId12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632" b="-36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611397" y="2776023"/>
            <a:ext cx="6985416" cy="4086177"/>
            <a:chOff x="0" y="0"/>
            <a:chExt cx="9313888" cy="54482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13926" cy="5448300"/>
            </a:xfrm>
            <a:custGeom>
              <a:avLst/>
              <a:gdLst/>
              <a:ahLst/>
              <a:cxnLst/>
              <a:rect l="l" t="t" r="r" b="b"/>
              <a:pathLst>
                <a:path w="9313926" h="5448300">
                  <a:moveTo>
                    <a:pt x="0" y="0"/>
                  </a:moveTo>
                  <a:lnTo>
                    <a:pt x="9313926" y="0"/>
                  </a:lnTo>
                  <a:lnTo>
                    <a:pt x="9313926" y="5448300"/>
                  </a:lnTo>
                  <a:lnTo>
                    <a:pt x="0" y="5448300"/>
                  </a:lnTo>
                  <a:close/>
                </a:path>
              </a:pathLst>
            </a:custGeom>
            <a:blipFill>
              <a:blip r:embed="rId7"/>
              <a:stretch>
                <a:fillRect l="-2783" r="-2783" b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683720" y="6890776"/>
            <a:ext cx="9927907" cy="1336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4"/>
              </a:lnSpc>
            </a:pPr>
            <a:endParaRPr/>
          </a:p>
          <a:p>
            <a:pPr algn="just">
              <a:lnSpc>
                <a:spcPts val="3504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- banco de dados relacional</a:t>
            </a:r>
          </a:p>
          <a:p>
            <a:pPr algn="just">
              <a:lnSpc>
                <a:spcPts val="3504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12 de 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68999" y="328336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Tecnologias Utilizadas</a:t>
            </a:r>
          </a:p>
        </p:txBody>
      </p:sp>
      <p:sp>
        <p:nvSpPr>
          <p:cNvPr id="12" name="AutoShape 12"/>
          <p:cNvSpPr/>
          <p:nvPr/>
        </p:nvSpPr>
        <p:spPr>
          <a:xfrm rot="5361300">
            <a:off x="5260534" y="1161069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4782398" y="908123"/>
            <a:ext cx="8723195" cy="155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Banco de Dados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811" b="-3814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571" r="-1" b="-356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9" name="Freeform 19">
              <a:hlinkClick r:id="rId10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32" b="-36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87807" y="1405280"/>
            <a:ext cx="17712299" cy="7266422"/>
            <a:chOff x="0" y="0"/>
            <a:chExt cx="23616399" cy="96885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16413" cy="9688576"/>
            </a:xfrm>
            <a:custGeom>
              <a:avLst/>
              <a:gdLst/>
              <a:ahLst/>
              <a:cxnLst/>
              <a:rect l="l" t="t" r="r" b="b"/>
              <a:pathLst>
                <a:path w="23616413" h="9688576">
                  <a:moveTo>
                    <a:pt x="0" y="0"/>
                  </a:moveTo>
                  <a:lnTo>
                    <a:pt x="23616413" y="0"/>
                  </a:lnTo>
                  <a:lnTo>
                    <a:pt x="23616413" y="9688576"/>
                  </a:lnTo>
                  <a:lnTo>
                    <a:pt x="0" y="9688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790" r="-479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4782379" y="-372828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Product Backlog</a:t>
            </a:r>
          </a:p>
        </p:txBody>
      </p:sp>
      <p:sp>
        <p:nvSpPr>
          <p:cNvPr id="8" name="AutoShape 8"/>
          <p:cNvSpPr/>
          <p:nvPr/>
        </p:nvSpPr>
        <p:spPr>
          <a:xfrm rot="5361300">
            <a:off x="6053814" y="750084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811" b="-381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571" r="-1" b="-356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4" name="Freeform 14">
              <a:hlinkClick r:id="rId8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632" b="-3635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5002285" y="131969"/>
            <a:ext cx="3895315" cy="1195578"/>
          </a:xfrm>
          <a:custGeom>
            <a:avLst/>
            <a:gdLst/>
            <a:ahLst/>
            <a:cxnLst/>
            <a:rect l="l" t="t" r="r" b="b"/>
            <a:pathLst>
              <a:path w="3895315" h="1195578">
                <a:moveTo>
                  <a:pt x="0" y="0"/>
                </a:moveTo>
                <a:lnTo>
                  <a:pt x="3895315" y="0"/>
                </a:lnTo>
                <a:lnTo>
                  <a:pt x="3895315" y="1195578"/>
                </a:lnTo>
                <a:lnTo>
                  <a:pt x="0" y="1195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37626" b="-3762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13 de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80131" y="1377296"/>
            <a:ext cx="15863164" cy="7383447"/>
            <a:chOff x="0" y="0"/>
            <a:chExt cx="21150885" cy="98445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50835" cy="9844659"/>
            </a:xfrm>
            <a:custGeom>
              <a:avLst/>
              <a:gdLst/>
              <a:ahLst/>
              <a:cxnLst/>
              <a:rect l="l" t="t" r="r" b="b"/>
              <a:pathLst>
                <a:path w="21150835" h="9844659">
                  <a:moveTo>
                    <a:pt x="0" y="0"/>
                  </a:moveTo>
                  <a:lnTo>
                    <a:pt x="21150835" y="0"/>
                  </a:lnTo>
                  <a:lnTo>
                    <a:pt x="21150835" y="9844659"/>
                  </a:lnTo>
                  <a:lnTo>
                    <a:pt x="0" y="9844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503" r="-650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4782379" y="-372828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Sprint Backlog</a:t>
            </a:r>
          </a:p>
        </p:txBody>
      </p:sp>
      <p:sp>
        <p:nvSpPr>
          <p:cNvPr id="8" name="AutoShape 8"/>
          <p:cNvSpPr/>
          <p:nvPr/>
        </p:nvSpPr>
        <p:spPr>
          <a:xfrm rot="5361300">
            <a:off x="6206214" y="750084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5002285" y="131969"/>
            <a:ext cx="3895315" cy="1195578"/>
          </a:xfrm>
          <a:custGeom>
            <a:avLst/>
            <a:gdLst/>
            <a:ahLst/>
            <a:cxnLst/>
            <a:rect l="l" t="t" r="r" b="b"/>
            <a:pathLst>
              <a:path w="3895315" h="1195578">
                <a:moveTo>
                  <a:pt x="0" y="0"/>
                </a:moveTo>
                <a:lnTo>
                  <a:pt x="3895315" y="0"/>
                </a:lnTo>
                <a:lnTo>
                  <a:pt x="3895315" y="1195578"/>
                </a:lnTo>
                <a:lnTo>
                  <a:pt x="0" y="1195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7626" b="-3762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14 de 17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811" b="-381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571" r="-1" b="-356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6" name="Freeform 16">
              <a:hlinkClick r:id="rId10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32" b="-3635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480" y="-75124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10342" y="3290049"/>
            <a:ext cx="16108013" cy="2889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8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projeto SOS Vale mostra como a tecnologia pode melhorar a comunicação e o atendimento em emergencias, integrando população e serviços em uma única plataforma. Com isso, oferece uma solução prática e eficiente para situações críticas.</a:t>
            </a:r>
          </a:p>
        </p:txBody>
      </p:sp>
      <p:sp>
        <p:nvSpPr>
          <p:cNvPr id="6" name="Freeform 6"/>
          <p:cNvSpPr/>
          <p:nvPr/>
        </p:nvSpPr>
        <p:spPr>
          <a:xfrm>
            <a:off x="14588557" y="-1478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625951" y="6819624"/>
            <a:ext cx="4957286" cy="3887057"/>
            <a:chOff x="0" y="0"/>
            <a:chExt cx="6609715" cy="51827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9715" cy="5182743"/>
            </a:xfrm>
            <a:custGeom>
              <a:avLst/>
              <a:gdLst/>
              <a:ahLst/>
              <a:cxnLst/>
              <a:rect l="l" t="t" r="r" b="b"/>
              <a:pathLst>
                <a:path w="6609715" h="5182743">
                  <a:moveTo>
                    <a:pt x="0" y="0"/>
                  </a:moveTo>
                  <a:lnTo>
                    <a:pt x="6609715" y="0"/>
                  </a:lnTo>
                  <a:lnTo>
                    <a:pt x="6609715" y="5182743"/>
                  </a:lnTo>
                  <a:lnTo>
                    <a:pt x="0" y="51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66" b="-1376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782402" y="987846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Conclusão</a:t>
            </a:r>
          </a:p>
        </p:txBody>
      </p:sp>
      <p:sp>
        <p:nvSpPr>
          <p:cNvPr id="10" name="AutoShape 10"/>
          <p:cNvSpPr/>
          <p:nvPr/>
        </p:nvSpPr>
        <p:spPr>
          <a:xfrm rot="5361300">
            <a:off x="6892014" y="1825342"/>
            <a:ext cx="84637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811" b="-381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571" r="-1" b="-356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6" name="Freeform 16">
              <a:hlinkClick r:id="rId8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632" b="-363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15 de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419682" y="766343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25047" y="-1478823"/>
            <a:ext cx="3778309" cy="3778309"/>
          </a:xfrm>
          <a:custGeom>
            <a:avLst/>
            <a:gdLst/>
            <a:ahLst/>
            <a:cxnLst/>
            <a:rect l="l" t="t" r="r" b="b"/>
            <a:pathLst>
              <a:path w="3778309" h="3778309">
                <a:moveTo>
                  <a:pt x="0" y="0"/>
                </a:moveTo>
                <a:lnTo>
                  <a:pt x="3778310" y="0"/>
                </a:lnTo>
                <a:lnTo>
                  <a:pt x="3778310" y="3778309"/>
                </a:lnTo>
                <a:lnTo>
                  <a:pt x="0" y="3778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89112" y="2223286"/>
            <a:ext cx="16483725" cy="562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 NACIONAL DE MONITORAMENTO E ALERTAS DE DESASTRES NATURAIS (CEMADEN). Disponível em: &lt;https://www.gov.br/cemaden&gt;. Acesso em: 29 abr. 2026.</a:t>
            </a:r>
          </a:p>
          <a:p>
            <a:pPr algn="ctr">
              <a:lnSpc>
                <a:spcPts val="3933"/>
              </a:lnSpc>
            </a:pPr>
            <a:endParaRPr lang="en-US" sz="28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33"/>
              </a:lnSpc>
            </a:pPr>
            <a:r>
              <a:rPr lang="en-US" sz="2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BRASIL. Disponível em: &lt;https://www.cnnbrasil.com.br&gt;. Acesso em: 29 abr. 2026.</a:t>
            </a:r>
          </a:p>
          <a:p>
            <a:pPr algn="ctr">
              <a:lnSpc>
                <a:spcPts val="3933"/>
              </a:lnSpc>
            </a:pPr>
            <a:endParaRPr lang="en-US" sz="28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33"/>
              </a:lnSpc>
            </a:pPr>
            <a:r>
              <a:rPr lang="en-US" sz="2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DEFESA CIVIL DO ESTADO DE SÃO PAULO. Disponível em: &lt;https://www.defesacivil.sp.gov.br&gt;. Acesso em: 29 abr. 2026.</a:t>
            </a:r>
          </a:p>
          <a:p>
            <a:pPr algn="l">
              <a:lnSpc>
                <a:spcPts val="3933"/>
              </a:lnSpc>
            </a:pPr>
            <a:endParaRPr lang="en-US" sz="28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405"/>
              </a:lnSpc>
            </a:pPr>
            <a:endParaRPr lang="en-US" sz="28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31"/>
              </a:lnSpc>
            </a:pPr>
            <a:r>
              <a:rPr lang="en-US" sz="2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G1. Disponível em: &lt;https://g1.globo.com&gt;. Acesso em: 29 abr. 2026.</a:t>
            </a:r>
          </a:p>
          <a:p>
            <a:pPr algn="l">
              <a:lnSpc>
                <a:spcPts val="3931"/>
              </a:lnSpc>
            </a:pPr>
            <a:endParaRPr lang="en-US" sz="28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31"/>
              </a:lnSpc>
            </a:pPr>
            <a:r>
              <a:rPr lang="en-US" sz="2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VALE. Disponível em: &lt;https://www.aquivalenoticias.com.br&gt;. Acesso em: 29 abr. 2026.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82398" y="159477"/>
            <a:ext cx="8723195" cy="154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11" b="-381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571" r="-1" b="-356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3" name="Freeform 13">
              <a:hlinkClick r:id="rId7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32" b="-363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5176049" y="81343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16 de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112544" y="5041744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815492" y="-847449"/>
            <a:ext cx="5990949" cy="5990949"/>
          </a:xfrm>
          <a:custGeom>
            <a:avLst/>
            <a:gdLst/>
            <a:ahLst/>
            <a:cxnLst/>
            <a:rect l="l" t="t" r="r" b="b"/>
            <a:pathLst>
              <a:path w="5990949" h="5990949">
                <a:moveTo>
                  <a:pt x="0" y="0"/>
                </a:moveTo>
                <a:lnTo>
                  <a:pt x="5990948" y="0"/>
                </a:lnTo>
                <a:lnTo>
                  <a:pt x="5990948" y="5990949"/>
                </a:lnTo>
                <a:lnTo>
                  <a:pt x="0" y="599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48867" y="3391529"/>
            <a:ext cx="6390265" cy="202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4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OBRIGADO (A)!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868999" y="9029814"/>
            <a:ext cx="2065201" cy="1091022"/>
            <a:chOff x="0" y="0"/>
            <a:chExt cx="2753601" cy="14546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53614" cy="1454658"/>
            </a:xfrm>
            <a:custGeom>
              <a:avLst/>
              <a:gdLst/>
              <a:ahLst/>
              <a:cxnLst/>
              <a:rect l="l" t="t" r="r" b="b"/>
              <a:pathLst>
                <a:path w="2753614" h="1454658">
                  <a:moveTo>
                    <a:pt x="0" y="0"/>
                  </a:moveTo>
                  <a:lnTo>
                    <a:pt x="2753614" y="0"/>
                  </a:lnTo>
                  <a:lnTo>
                    <a:pt x="2753614" y="1454658"/>
                  </a:lnTo>
                  <a:lnTo>
                    <a:pt x="0" y="145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11" b="-381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80131" y="8541182"/>
            <a:ext cx="3546005" cy="1579578"/>
            <a:chOff x="0" y="0"/>
            <a:chExt cx="4728007" cy="21061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7956" cy="2106168"/>
            </a:xfrm>
            <a:custGeom>
              <a:avLst/>
              <a:gdLst/>
              <a:ahLst/>
              <a:cxnLst/>
              <a:rect l="l" t="t" r="r" b="b"/>
              <a:pathLst>
                <a:path w="4727956" h="2106168">
                  <a:moveTo>
                    <a:pt x="0" y="0"/>
                  </a:moveTo>
                  <a:lnTo>
                    <a:pt x="4727956" y="0"/>
                  </a:lnTo>
                  <a:lnTo>
                    <a:pt x="4727956" y="2106168"/>
                  </a:lnTo>
                  <a:lnTo>
                    <a:pt x="0" y="2106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571" r="-1" b="-356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55822" y="8916067"/>
            <a:ext cx="1666580" cy="1133027"/>
            <a:chOff x="0" y="0"/>
            <a:chExt cx="2222106" cy="1510703"/>
          </a:xfrm>
        </p:grpSpPr>
        <p:sp>
          <p:nvSpPr>
            <p:cNvPr id="12" name="Freeform 12">
              <a:hlinkClick r:id="rId7" tooltip="https://canva.link/vfe1osfyiru9iwh"/>
            </p:cNvPr>
            <p:cNvSpPr/>
            <p:nvPr/>
          </p:nvSpPr>
          <p:spPr>
            <a:xfrm>
              <a:off x="0" y="0"/>
              <a:ext cx="2222119" cy="1510665"/>
            </a:xfrm>
            <a:custGeom>
              <a:avLst/>
              <a:gdLst/>
              <a:ahLst/>
              <a:cxnLst/>
              <a:rect l="l" t="t" r="r" b="b"/>
              <a:pathLst>
                <a:path w="2222119" h="1510665">
                  <a:moveTo>
                    <a:pt x="0" y="0"/>
                  </a:moveTo>
                  <a:lnTo>
                    <a:pt x="2222119" y="0"/>
                  </a:lnTo>
                  <a:lnTo>
                    <a:pt x="2222119" y="1510665"/>
                  </a:lnTo>
                  <a:lnTo>
                    <a:pt x="0" y="1510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32" b="-3635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5002285" y="131969"/>
            <a:ext cx="3895315" cy="1195578"/>
          </a:xfrm>
          <a:custGeom>
            <a:avLst/>
            <a:gdLst/>
            <a:ahLst/>
            <a:cxnLst/>
            <a:rect l="l" t="t" r="r" b="b"/>
            <a:pathLst>
              <a:path w="3895315" h="1195578">
                <a:moveTo>
                  <a:pt x="0" y="0"/>
                </a:moveTo>
                <a:lnTo>
                  <a:pt x="3895315" y="0"/>
                </a:lnTo>
                <a:lnTo>
                  <a:pt x="3895315" y="1195578"/>
                </a:lnTo>
                <a:lnTo>
                  <a:pt x="0" y="1195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7626" b="-3762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295559" y="353849"/>
            <a:ext cx="2992441" cy="66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 17 de 17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504</Words>
  <Application>Microsoft Office PowerPoint</Application>
  <PresentationFormat>Personalizar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Times New Roman</vt:lpstr>
      <vt:lpstr>Arial</vt:lpstr>
      <vt:lpstr>Arial Bold</vt:lpstr>
      <vt:lpstr>Calibri</vt:lpstr>
      <vt:lpstr>Times New Roman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APRESENTACAO_PI2.0.pptx</dc:title>
  <cp:lastModifiedBy>aluno</cp:lastModifiedBy>
  <cp:revision>2</cp:revision>
  <dcterms:created xsi:type="dcterms:W3CDTF">2006-08-16T00:00:00Z</dcterms:created>
  <dcterms:modified xsi:type="dcterms:W3CDTF">2026-04-30T11:38:41Z</dcterms:modified>
  <dc:identifier>DAHIUygOS1I</dc:identifier>
</cp:coreProperties>
</file>